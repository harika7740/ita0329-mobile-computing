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5" r:id="rId9"/>
    <p:sldId id="266" r:id="rId10"/>
    <p:sldId id="268" r:id="rId11"/>
    <p:sldId id="269" r:id="rId12"/>
    <p:sldId id="270" r:id="rId13"/>
    <p:sldId id="271" r:id="rId14"/>
    <p:sldId id="27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CEB8E9D0-3682-5CB8-DC70-9CF8F7E8AF20}">
          <p14:sldIdLst>
            <p14:sldId id="256"/>
            <p14:sldId id="257"/>
            <p14:sldId id="258"/>
            <p14:sldId id="259"/>
            <p14:sldId id="260"/>
            <p14:sldId id="261"/>
            <p14:sldId id="273"/>
            <p14:sldId id="265"/>
            <p14:sldId id="266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6AA669-BBBD-4997-9F36-737E10FBE704}" v="15" dt="2026-10-26T16:47:35.161"/>
    <p1510:client id="{DF1B283B-6593-4DD5-AF09-18424B9728CA}" v="163" dt="2026-10-26T17:36:09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A15C3B-6527-4DED-824D-AE09E4006A2E}" type="datetimeFigureOut"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E3844-7FB6-43F8-92CD-061F9E0E34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2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28016"/>
            <a:ext cx="585216" cy="914400"/>
          </a:xfrm>
          <a:prstGeom prst="rect">
            <a:avLst/>
          </a:prstGeom>
        </p:spPr>
      </p:pic>
      <p:pic>
        <p:nvPicPr>
          <p:cNvPr id="3" name="Image 1" descr="emble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09728"/>
            <a:ext cx="914400" cy="914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ctr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82880"/>
            <a:ext cx="8869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ea typeface="Times New Roman" pitchFamily="34" charset="-122"/>
                <a:cs typeface="Times New Roman"/>
              </a:rPr>
              <a:t>ITA0329– MOBILE COMPUTING</a:t>
            </a:r>
          </a:p>
        </p:txBody>
      </p:sp>
      <p:sp>
        <p:nvSpPr>
          <p:cNvPr id="4" name="Text 1"/>
          <p:cNvSpPr txBox="1"/>
          <p:nvPr/>
        </p:nvSpPr>
        <p:spPr>
          <a:xfrm>
            <a:off x="365760" y="16002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TITLE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348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“1G to 5G Evolution Interactive Learning Platform.”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383280"/>
            <a:ext cx="36576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b="1" dirty="0">
                <a:latin typeface="Times New Roman"/>
                <a:ea typeface="Times New Roman" pitchFamily="34" charset="-122"/>
                <a:cs typeface="Times New Roman"/>
              </a:rPr>
              <a:t>PRESENTED BY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lang="en-US" b="1">
                <a:latin typeface="Times New Roman"/>
                <a:ea typeface="Times New Roman" pitchFamily="34" charset="-122"/>
                <a:cs typeface="Times New Roman"/>
              </a:rPr>
              <a:t>Duddela Harika(192324301)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lang="en-US" b="1">
                <a:latin typeface="Times New Roman"/>
                <a:ea typeface="Times New Roman" pitchFamily="34" charset="-122"/>
                <a:cs typeface="Times New Roman"/>
              </a:rPr>
              <a:t>Nirosha M(192311411)</a:t>
            </a:r>
            <a:endParaRPr lang="en-US">
              <a:cs typeface="Times New Roman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66928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b="1" dirty="0">
                <a:latin typeface="Times New Roman"/>
                <a:ea typeface="Times New Roman" pitchFamily="34" charset="-122"/>
                <a:cs typeface="Times New Roman"/>
              </a:rPr>
              <a:t>GUIDED BY</a:t>
            </a:r>
            <a:endParaRPr lang="en-US" b="1">
              <a:latin typeface="Times New Roman"/>
              <a:cs typeface="Times New Roman"/>
            </a:endParaRPr>
          </a:p>
          <a:p>
            <a:pPr algn="ctr">
              <a:spcAft>
                <a:spcPts val="600"/>
              </a:spcAft>
            </a:pPr>
            <a:r>
              <a:rPr lang="en-US" b="1" dirty="0">
                <a:latin typeface="Times New Roman"/>
                <a:cs typeface="Times New Roman"/>
              </a:rPr>
              <a:t>Dr. </a:t>
            </a:r>
            <a:r>
              <a:rPr lang="en-US" b="1">
                <a:latin typeface="Times New Roman"/>
                <a:cs typeface="Times New Roman"/>
              </a:rPr>
              <a:t>Saravanan. M.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</a:t>
            </a:r>
            <a:endParaRPr lang="en-US" sz="2800" dirty="0"/>
          </a:p>
        </p:txBody>
      </p:sp>
      <p:sp>
        <p:nvSpPr>
          <p:cNvPr id="3" name="Body"/>
          <p:cNvSpPr txBox="1"/>
          <p:nvPr/>
        </p:nvSpPr>
        <p:spPr>
          <a:xfrm>
            <a:off x="822960" y="1097280"/>
            <a:ext cx="8046720" cy="3611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AND OBJECTIVES</a:t>
            </a:r>
            <a:endParaRPr lang="en-US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AND PROPOSED SYSTEM</a:t>
            </a:r>
            <a:endParaRPr lang="en-US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</a:t>
            </a:r>
            <a:endParaRPr lang="en-US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STANDARDS</a:t>
            </a:r>
            <a:endParaRPr lang="en-US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CONTRIBUTION</a:t>
            </a:r>
            <a:endParaRPr lang="en-US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188720"/>
            <a:ext cx="8046720" cy="3611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1G to 5G Evolution Interactive Learning Platform is a mobile app that helps students learn how mobile networks changed from 1G to 5G.</a:t>
            </a:r>
            <a:endParaRPr lang="en-US" sz="18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shows each generation’s data rate, spectrum band, latency, technologies and services in a simple, visual way.</a:t>
            </a:r>
            <a:endParaRPr lang="en-US" sz="1850" dirty="0"/>
          </a:p>
          <a:p>
            <a:pPr>
              <a:spcAft>
                <a:spcPts val="1000"/>
              </a:spcAft>
              <a:buSzPct val="100000"/>
            </a:pPr>
            <a:r>
              <a:rPr lang="en-US" sz="18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 of the Project</a:t>
            </a:r>
            <a:endParaRPr lang="en-US" sz="1850" dirty="0">
              <a:cs typeface="Times New Roman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explore an interactive timeline, compare generations using charts, and take gamified quizzes.</a:t>
            </a:r>
            <a:endParaRPr lang="en-US" sz="18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 records quiz score, engagement time and comparison accuracy to measure learning.</a:t>
            </a:r>
            <a:endParaRPr lang="en-US" sz="18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makes a difficult topic easy, interesting and available anytime on a phone.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188720"/>
            <a:ext cx="8046720" cy="3611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networks have grown from 1G (voice only) to 5G (very high speed, low delay and smart devices).</a:t>
            </a:r>
            <a:endParaRPr lang="en-US" sz="16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Textbooks explain this evolution in long text and tables, which students find hard to remember.</a:t>
            </a:r>
            <a:endParaRPr lang="en-US" sz="16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app turns the same content into an interactive timeline, charts and quizzes.</a:t>
            </a:r>
            <a:endParaRPr lang="en-US" sz="1650" dirty="0"/>
          </a:p>
          <a:p>
            <a:pPr>
              <a:spcAft>
                <a:spcPts val="500"/>
              </a:spcAft>
              <a:buSzPct val="100000"/>
            </a:pPr>
            <a:endParaRPr lang="en-US" sz="1650" dirty="0">
              <a:latin typeface="Times New Roman" pitchFamily="34" charset="-122"/>
              <a:ea typeface="Times New Roman" pitchFamily="34" charset="-122"/>
              <a:cs typeface="Times New Roman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6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Importances :</a:t>
            </a:r>
            <a:endParaRPr lang="en-US" sz="16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system</a:t>
            </a:r>
            <a:endParaRPr lang="en-US" sz="165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makes learning simple and interesting</a:t>
            </a:r>
            <a:endParaRPr lang="en-US" sz="165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helps compare generations easily</a:t>
            </a:r>
            <a:endParaRPr lang="en-US" sz="165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tests understanding through quizzes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STATEMENTS AND OBJECTIVES</a:t>
            </a:r>
            <a:endParaRPr lang="en-US" sz="2800" dirty="0"/>
          </a:p>
        </p:txBody>
      </p:sp>
      <p:sp>
        <p:nvSpPr>
          <p:cNvPr id="3" name="Body"/>
          <p:cNvSpPr txBox="1"/>
          <p:nvPr/>
        </p:nvSpPr>
        <p:spPr>
          <a:xfrm>
            <a:off x="398245" y="1058378"/>
            <a:ext cx="8046720" cy="3611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sz="1600" b="1">
                <a:latin typeface="Times New Roman"/>
                <a:ea typeface="Times New Roman" pitchFamily="34" charset="-122"/>
                <a:cs typeface="Times New Roman"/>
              </a:rPr>
              <a:t>Problem Statement: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Students find it difficult to remember mobile network generations from 1G to 5G.</a:t>
            </a:r>
            <a:endParaRPr lang="en-US"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Comparing speed, frequency, latency, and services is confusing.</a:t>
            </a:r>
            <a:endParaRPr lang="en-US"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Traditional study materials do not provide interactive learning or instant feedback.</a:t>
            </a:r>
            <a:endParaRPr lang="en-US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b="1"/>
              <a:t>Objectives</a:t>
            </a:r>
            <a:endParaRPr lang="en-US" b="1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600" b="1">
                <a:ea typeface="+mn-lt"/>
                <a:cs typeface="+mn-lt"/>
              </a:rPr>
              <a:t>Content and Visualization Module</a:t>
            </a:r>
            <a:endParaRPr lang="en-US" b="1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To display 1G to 5G information using timelines and charts.</a:t>
            </a:r>
            <a:endParaRPr lang="en-US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To make comparing network generations easy.</a:t>
            </a:r>
            <a:endParaRPr lang="en-US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600" b="1">
                <a:ea typeface="+mn-lt"/>
                <a:cs typeface="+mn-lt"/>
              </a:rPr>
              <a:t>Quiz and Assessment Module</a:t>
            </a:r>
            <a:endParaRPr lang="en-US" b="1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To conduct interactive quizzes and provide instant feedback.</a:t>
            </a:r>
            <a:endParaRPr lang="en-US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To track quiz scores, learning time, and comparison accuracy.</a:t>
            </a:r>
            <a:endParaRPr lang="en-US">
              <a:cs typeface="Times New Roman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endParaRPr lang="en-US" sz="1600" dirty="0"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AND PROPOSED SYSTEMS</a:t>
            </a:r>
            <a:endParaRPr lang="en-US" sz="28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188720"/>
            <a:ext cx="8046720" cy="3611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en-US" b="1" dirty="0">
                <a:latin typeface="Times New Roman"/>
                <a:ea typeface="Times New Roman" pitchFamily="34" charset="-122"/>
                <a:cs typeface="Times New Roman"/>
              </a:rPr>
              <a:t>Existing System: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Students learn from textbooks, notes and slides.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>
                <a:latin typeface="Times New Roman"/>
                <a:ea typeface="Times New Roman" pitchFamily="34" charset="-122"/>
                <a:cs typeface="Times New Roman"/>
              </a:rPr>
              <a:t>No interaction or practice for the learner.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Comparing generations takes a lot of effort.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No tracking of learner progress.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en-US" b="1" dirty="0">
                <a:latin typeface="Times New Roman"/>
                <a:ea typeface="Times New Roman" pitchFamily="34" charset="-122"/>
                <a:cs typeface="Times New Roman"/>
              </a:rPr>
              <a:t>Proposed System: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An interactive Android / React Native app for 1G to 5G.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Timeline shows the evolution step by step.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Charts compare data rate, latency and spectrum band.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Gamified quizzes give feedback; progress is tracked.</a:t>
            </a:r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79DAE-422D-7D49-D197-39A3D3EDA2C6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 wrap="square" lIns="91440" tIns="45720" rIns="91440" bIns="45720" rtlCol="0" anchor="t"/>
          <a:lstStyle/>
          <a:p>
            <a:r>
              <a:rPr lang="en-US"/>
              <a:t>METHODOLOGY</a:t>
            </a:r>
            <a:endParaRPr lang="en-US" b="0"/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97A966-575B-D6C2-69F5-3ACC8F0C6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15" y="1055310"/>
            <a:ext cx="7510817" cy="387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15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-1: Interactive Timeline &amp; Data Visualisation</a:t>
            </a:r>
            <a:endParaRPr lang="en-US" sz="28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188720"/>
            <a:ext cx="8046720" cy="3611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This module shows the evolution from 1G to 5G on a scrollable timeline.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The learner taps a generation to see its data rate, spectrum band, latency, technologies and services.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Bar and line charts (</a:t>
            </a:r>
            <a:r>
              <a:rPr lang="en-US" dirty="0" err="1">
                <a:latin typeface="Times New Roman"/>
                <a:ea typeface="Times New Roman" pitchFamily="34" charset="-122"/>
                <a:cs typeface="Times New Roman"/>
              </a:rPr>
              <a:t>MPAndroidChart</a:t>
            </a: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) compare generations side by side.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Data comes from the SQLite content store, so it works offline.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b="1" dirty="0">
                <a:latin typeface="Times New Roman"/>
                <a:ea typeface="Times New Roman" pitchFamily="34" charset="-122"/>
                <a:cs typeface="Times New Roman"/>
              </a:rPr>
              <a:t>Key Functions: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Displays each generation in order of time.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Shows details of the selected generation.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Draws charts to compare two or more generations.</a:t>
            </a:r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Gamified Quiz &amp; Progress Tracking</a:t>
            </a:r>
            <a:endParaRPr lang="en-US" sz="28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188720"/>
            <a:ext cx="8046720" cy="3611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This module tests what the learner has understood.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Questions come from SQLite, with points, levels, badges and instant feedback.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It saves quiz score, engagement time and comparison accuracy for each learner.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Feedback from a student group is used to improve the app.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b="1" dirty="0">
                <a:latin typeface="Times New Roman"/>
                <a:ea typeface="Times New Roman" pitchFamily="34" charset="-122"/>
                <a:cs typeface="Times New Roman"/>
              </a:rPr>
              <a:t>Key Functions: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Picks questions by generation or topic.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Calculates the score and gives instant feedback.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Shows a progress dashboard for the learner.</a:t>
            </a:r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STANDARDS</a:t>
            </a:r>
            <a:endParaRPr lang="en-US" sz="2800" dirty="0"/>
          </a:p>
        </p:txBody>
      </p:sp>
      <p:sp>
        <p:nvSpPr>
          <p:cNvPr id="3" name="Body"/>
          <p:cNvSpPr txBox="1"/>
          <p:nvPr/>
        </p:nvSpPr>
        <p:spPr>
          <a:xfrm>
            <a:off x="640080" y="1188720"/>
            <a:ext cx="8046720" cy="3611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Learning Technology Standards</a:t>
            </a:r>
            <a:endParaRPr lang="en-US" sz="17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1484.12.1 – Learning Object Metadata for organising learning content.</a:t>
            </a:r>
            <a:endParaRPr lang="en-US" sz="17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1484.1 – Architecture for learning technology systems.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Wireless Communication Standards</a:t>
            </a:r>
            <a:endParaRPr lang="en-US" sz="17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802.11 – Wi-Fi for downloading and updating content.</a:t>
            </a:r>
            <a:endParaRPr lang="en-US" sz="17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802.15.1 – Bluetooth for sharing with nearby devices.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Software Engineering Standards</a:t>
            </a:r>
            <a:endParaRPr lang="en-US" sz="17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12207 – Software life cycle processes.</a:t>
            </a:r>
            <a:endParaRPr lang="en-US" sz="17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29148 – Requirements engineering.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CONTRIBUTION</a:t>
            </a:r>
            <a:endParaRPr lang="en-US" sz="28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188720"/>
            <a:ext cx="8046720" cy="3611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helps students learn telecom concepts in an easy, interactive and affordable way.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4 – Quality Education</a:t>
            </a:r>
            <a:endParaRPr lang="en-US" sz="17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lessons and quizzes improve understanding and support self-paced learning.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9 – Industry, Innovation, and Infrastructure</a:t>
            </a:r>
            <a:endParaRPr lang="en-US" sz="17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awareness of 5G and modern communication technology, supporting innovation.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10 – Reduced Inequalities</a:t>
            </a:r>
            <a:endParaRPr lang="en-US" sz="17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Offline mobile access lets more students learn, even with limited internet.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Body"/>
          <p:cNvSpPr txBox="1"/>
          <p:nvPr/>
        </p:nvSpPr>
        <p:spPr>
          <a:xfrm>
            <a:off x="822960" y="1280160"/>
            <a:ext cx="7498080" cy="29501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Makes the 1G to 5G evolution simple and easy to understand.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Interactive timeline and charts help learners compare generations quickly.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Gamified quizzes improve interest, practice and memory.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Quiz score, engagement time and comparison accuracy show how well </a:t>
            </a:r>
            <a:r>
              <a:rPr lang="en-US" dirty="0" err="1">
                <a:latin typeface="Times New Roman"/>
                <a:ea typeface="Times New Roman" pitchFamily="34" charset="-122"/>
                <a:cs typeface="Times New Roman"/>
              </a:rPr>
              <a:t>learners</a:t>
            </a: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 progress.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Works offline on a mobile phone using a SQLite content store.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dirty="0">
                <a:latin typeface="Times New Roman"/>
                <a:ea typeface="Times New Roman" pitchFamily="34" charset="-122"/>
                <a:cs typeface="Times New Roman"/>
              </a:rPr>
              <a:t>Combines education, technology and innovation in a single app.</a:t>
            </a:r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188720"/>
            <a:ext cx="8046720" cy="3611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/>
                <a:ea typeface="Times New Roman" pitchFamily="34" charset="-122"/>
                <a:cs typeface="Times New Roman"/>
              </a:rPr>
              <a:t>Rappaport, T. S. (2002). Wireless Communications: Principles and Practice (2nd ed.), Prentice Hall.</a:t>
            </a:r>
            <a:endParaRPr lang="en-US" sz="16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/>
                <a:ea typeface="Times New Roman" pitchFamily="34" charset="-122"/>
                <a:cs typeface="Times New Roman"/>
              </a:rPr>
              <a:t>Dahlman, E., </a:t>
            </a:r>
            <a:r>
              <a:rPr lang="en-US" sz="1600" dirty="0" err="1">
                <a:latin typeface="Times New Roman"/>
                <a:ea typeface="Times New Roman" pitchFamily="34" charset="-122"/>
                <a:cs typeface="Times New Roman"/>
              </a:rPr>
              <a:t>Parkvall</a:t>
            </a:r>
            <a:r>
              <a:rPr lang="en-US" sz="1600" dirty="0">
                <a:latin typeface="Times New Roman"/>
                <a:ea typeface="Times New Roman" pitchFamily="34" charset="-122"/>
                <a:cs typeface="Times New Roman"/>
              </a:rPr>
              <a:t>, S., &amp; Sköld, J. (2020). 5G NR: The Next Generation Wireless Access Technology (2nd ed.), Academic Press.</a:t>
            </a:r>
            <a:endParaRPr lang="en-US" sz="16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/>
                <a:ea typeface="Times New Roman" pitchFamily="34" charset="-122"/>
                <a:cs typeface="Times New Roman"/>
              </a:rPr>
              <a:t>ITU-R Recommendation M.2083-0 (2015). IMT Vision – Framework and overall objectives of IMT for 2020 and beyond.</a:t>
            </a:r>
            <a:endParaRPr lang="en-US" sz="16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Times New Roman"/>
                <a:ea typeface="Times New Roman" pitchFamily="34" charset="-122"/>
                <a:cs typeface="Times New Roman"/>
              </a:rPr>
              <a:t>Android Developers. Kotlin and Android app development documentation (developer.android.com).</a:t>
            </a:r>
            <a:endParaRPr lang="en-US" sz="16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 err="1">
                <a:latin typeface="Times New Roman"/>
                <a:ea typeface="Times New Roman" pitchFamily="34" charset="-122"/>
                <a:cs typeface="Times New Roman"/>
              </a:rPr>
              <a:t>MPAndroidChart</a:t>
            </a:r>
            <a:r>
              <a:rPr lang="en-US" sz="1600" dirty="0">
                <a:latin typeface="Times New Roman"/>
                <a:ea typeface="Times New Roman" pitchFamily="34" charset="-122"/>
                <a:cs typeface="Times New Roman"/>
              </a:rPr>
              <a:t> – open-source chart library for Android (GitHub).</a:t>
            </a:r>
            <a:endParaRPr lang="en-US"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Card"/>
          <p:cNvSpPr/>
          <p:nvPr/>
        </p:nvSpPr>
        <p:spPr>
          <a:xfrm>
            <a:off x="1586965" y="1285374"/>
            <a:ext cx="5669280" cy="32004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586965" y="1465847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109728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TS">
  <a:themeElements>
    <a:clrScheme name="SIMATS">
      <a:dk1>
        <a:srgbClr val="000000"/>
      </a:dk1>
      <a:lt1>
        <a:srgbClr val="FFFFFF"/>
      </a:lt1>
      <a:dk2>
        <a:srgbClr val="1F3864"/>
      </a:dk2>
      <a:lt2>
        <a:srgbClr val="EAF1FA"/>
      </a:lt2>
      <a:accent1>
        <a:srgbClr val="0070C0"/>
      </a:accent1>
      <a:accent2>
        <a:srgbClr val="ED7D31"/>
      </a:accent2>
      <a:accent3>
        <a:srgbClr val="4472C4"/>
      </a:accent3>
      <a:accent4>
        <a:srgbClr val="70AD47"/>
      </a:accent4>
      <a:accent5>
        <a:srgbClr val="7F7F7F"/>
      </a:accent5>
      <a:accent6>
        <a:srgbClr val="1F3864"/>
      </a:accent6>
      <a:hlink>
        <a:srgbClr val="0070C0"/>
      </a:hlink>
      <a:folHlink>
        <a:srgbClr val="7F7F7F"/>
      </a:folHlink>
    </a:clrScheme>
    <a:fontScheme name="SIMATS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SIMATS</vt:lpstr>
      <vt:lpstr>PowerPoint Presentation</vt:lpstr>
      <vt:lpstr>INDEX</vt:lpstr>
      <vt:lpstr>ABSTRACT</vt:lpstr>
      <vt:lpstr>INTRODUCTION</vt:lpstr>
      <vt:lpstr>PROBLEM STATEMENTS AND OBJECTIVES</vt:lpstr>
      <vt:lpstr>EXISTING SYSTEM AND PROPOSED SYSTEMS</vt:lpstr>
      <vt:lpstr>METHODOLOGY </vt:lpstr>
      <vt:lpstr>Module -1: Interactive Timeline &amp; Data Visualisation</vt:lpstr>
      <vt:lpstr>MODULE 2: Gamified Quiz &amp; Progress Tracking</vt:lpstr>
      <vt:lpstr>IEEE STANDARDS</vt:lpstr>
      <vt:lpstr>SDG CONTRIBUTION</vt:lpstr>
      <vt:lpstr>CONCLUSION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1G to 5G Evolution Interactive Learning Platform</dc:title>
  <dc:subject>PptxGenJS Presentation</dc:subject>
  <dc:creator>PptxGenJS</dc:creator>
  <cp:lastModifiedBy>PptxGenJS</cp:lastModifiedBy>
  <cp:revision>84</cp:revision>
  <dcterms:created xsi:type="dcterms:W3CDTF">2026-10-26T04:04:51Z</dcterms:created>
  <dcterms:modified xsi:type="dcterms:W3CDTF">2026-10-26T17:36:41Z</dcterms:modified>
</cp:coreProperties>
</file>